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72" r:id="rId5"/>
    <p:sldId id="262" r:id="rId6"/>
    <p:sldId id="279" r:id="rId7"/>
    <p:sldId id="280" r:id="rId8"/>
    <p:sldId id="284" r:id="rId9"/>
    <p:sldId id="285" r:id="rId10"/>
    <p:sldId id="283" r:id="rId11"/>
    <p:sldId id="289" r:id="rId12"/>
    <p:sldId id="287" r:id="rId13"/>
    <p:sldId id="288" r:id="rId14"/>
    <p:sldId id="271" r:id="rId15"/>
    <p:sldId id="26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72A"/>
    <a:srgbClr val="0A1628"/>
    <a:srgbClr val="FCF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1A13FF-D84A-467C-BE63-2FB2FC91144F}" v="143" dt="2026-05-27T10:09:12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806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B41D2-6AED-5F35-925E-51BD65076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AB71B-D732-6A2F-6E17-249E68EAC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882CB-2B68-DDAA-1966-ED2037A56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DDAC3-11A2-CF1E-A0E0-0FD6EE5D5C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95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14382-6AAA-2E4E-2CF0-EEA3667DD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3BDC9-780E-7ABF-6F65-7C229DF3E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243FC-8CDD-4E60-A1AB-30681DD82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E0E3D-70FA-ACF3-CDE9-1F4E969927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96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8BD6D-4FE3-789D-0C06-514AE8574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617C4-F094-D6CF-BCB5-E5B5F4747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F9EE6-A267-AE0C-FF18-F67FE1FE2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F1E00-60A2-BECE-07AB-E944581BE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07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A9300-0DFC-8CCE-2472-FF3F85E8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8B299-EA46-E155-4E8B-BD857A014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6EF420-2FD4-0205-B9DD-44B70ABCE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689B3-459E-14DD-D6DB-0C4F69FADA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82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F00DE-9075-B48A-49B7-A00CC7119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4A343-3656-DF78-AE03-7628FE73F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7AF35-08CC-26D4-1774-256ABCB64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51E8A-19EE-C46B-79DF-2BC1222A5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40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460E1-C41E-F019-A836-E9C256BE1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351A5-B805-8FE0-A479-D5A9355E2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F3FBC-6631-CC1A-DD7D-F0E922277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8653A-96AD-E41F-AC15-69519F8DD1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86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888B1-4E0E-74D1-47F3-BEBAB35E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8A79F-CED8-242B-C41C-9D53DA0B3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97BDC-057D-B6DD-5ADA-01D7C9A46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DF506-8A5A-56A0-980E-B57F60C29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53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209BC-8C9D-2C4C-9FAA-F8D3B5235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D2312-D788-2829-29AD-CDD0F48DC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A761B-4432-147D-03DD-56D75F2FB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A722A-9284-78FC-F583-1C5D541F3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00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9E38-EE8B-78CC-3188-04E5E6E7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DC339-ED8F-19F2-91F5-894ED3147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27D17-640F-455B-4495-0C2601D01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85CF7-3377-8943-57B5-D8673339BA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98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60A5FA">
              <a:alpha val="60000"/>
            </a:srgbClr>
          </a:solidFill>
          <a:ln w="12700">
            <a:solidFill>
              <a:srgbClr val="60A5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6"/>
          <p:cNvSpPr/>
          <p:nvPr/>
        </p:nvSpPr>
        <p:spPr>
          <a:xfrm>
            <a:off x="228600" y="618309"/>
            <a:ext cx="87390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hu-HU" sz="4400" b="1">
                <a:solidFill>
                  <a:srgbClr val="FFFFFF"/>
                </a:solidFill>
                <a:latin typeface="Arial Black"/>
              </a:rPr>
              <a:t>Wadmin iskola hálózata</a:t>
            </a:r>
            <a:endParaRPr lang="hu-HU" sz="4400" b="1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27553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Informatikai</a:t>
            </a:r>
            <a:r>
              <a:rPr lang="en-US" sz="1800" b="1" dirty="0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 Projekt – Szakmai Vizsga </a:t>
            </a:r>
            <a:r>
              <a:rPr lang="en-US" sz="18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Bemutató</a:t>
            </a:r>
            <a:endParaRPr lang="en-US" sz="1800" b="1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3486912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9"/>
          <p:cNvSpPr/>
          <p:nvPr/>
        </p:nvSpPr>
        <p:spPr>
          <a:xfrm>
            <a:off x="457200" y="3505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hu-HU" sz="1100" b="1" dirty="0">
              <a:solidFill>
                <a:srgbClr val="60A5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hu-HU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</a:p>
          <a:p>
            <a:pPr marL="0" indent="0" algn="ctr">
              <a:buNone/>
            </a:pPr>
            <a:endParaRPr lang="en-US" sz="1100" i="1" dirty="0">
              <a:solidFill>
                <a:schemeClr val="bg1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560320" y="3486912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1"/>
          <p:cNvSpPr/>
          <p:nvPr/>
        </p:nvSpPr>
        <p:spPr>
          <a:xfrm>
            <a:off x="2560320" y="3505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hu-HU" sz="1100" b="1" dirty="0">
              <a:solidFill>
                <a:srgbClr val="60A5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hu-HU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– IPV6</a:t>
            </a:r>
          </a:p>
          <a:p>
            <a:pPr algn="ctr"/>
            <a:endParaRPr lang="en-US" sz="1000" i="1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63440" y="3486912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3"/>
          <p:cNvSpPr/>
          <p:nvPr/>
        </p:nvSpPr>
        <p:spPr>
          <a:xfrm>
            <a:off x="4663440" y="3505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hu-HU" sz="1100" b="1" dirty="0">
              <a:solidFill>
                <a:srgbClr val="60A5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hu-HU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szerver</a:t>
            </a:r>
          </a:p>
          <a:p>
            <a:pPr algn="ctr"/>
            <a:endParaRPr lang="en-US" sz="1000" i="1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766560" y="3486912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5"/>
          <p:cNvSpPr/>
          <p:nvPr/>
        </p:nvSpPr>
        <p:spPr>
          <a:xfrm>
            <a:off x="6766560" y="3505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szerver</a:t>
            </a:r>
          </a:p>
        </p:txBody>
      </p:sp>
      <p:sp>
        <p:nvSpPr>
          <p:cNvPr id="19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r>
              <a:rPr lang="hu-HU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Szakmai Vizsga  · 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Informatika</a:t>
            </a:r>
            <a:r>
              <a:rPr lang="hu-HU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és távközlés</a:t>
            </a:r>
            <a:endParaRPr lang="en-US" sz="11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597D5FC3-2DA8-4A9D-7102-3786F65C4B27}"/>
              </a:ext>
            </a:extLst>
          </p:cNvPr>
          <p:cNvSpPr/>
          <p:nvPr/>
        </p:nvSpPr>
        <p:spPr>
          <a:xfrm>
            <a:off x="457200" y="156318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hu-HU" sz="2400" b="1" i="1" dirty="0">
              <a:solidFill>
                <a:srgbClr val="FFFFFF"/>
              </a:solidFill>
              <a:latin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Miért pont ez a projekt?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A </a:t>
            </a: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projekt</a:t>
            </a:r>
            <a:r>
              <a:rPr lang="en-US" sz="1600" b="1" dirty="0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motivációja</a:t>
            </a:r>
            <a:r>
              <a:rPr lang="en-US" sz="1600" b="1" dirty="0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és</a:t>
            </a:r>
            <a:r>
              <a:rPr lang="en-US" sz="1600" b="1" dirty="0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</a:rPr>
              <a:t>célkitűzései</a:t>
            </a:r>
            <a:endParaRPr lang="en-US" sz="1600" b="1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3108960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517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1188720" y="1691640"/>
            <a:ext cx="914400" cy="9144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6"/>
          <p:cNvSpPr/>
          <p:nvPr/>
        </p:nvSpPr>
        <p:spPr>
          <a:xfrm>
            <a:off x="32004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Több telephely összekötése 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3246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Célunk volt megvalósítani azt az alapelvárást a projekttel szemben, hogy a hálózatunk több telephelyes legyen és hibátlanul működjenek együtt.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508760"/>
            <a:ext cx="2651760" cy="3108960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12" name="Shape 9"/>
          <p:cNvSpPr/>
          <p:nvPr/>
        </p:nvSpPr>
        <p:spPr>
          <a:xfrm>
            <a:off x="3200400" y="1508760"/>
            <a:ext cx="26517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10"/>
          <p:cNvSpPr/>
          <p:nvPr/>
        </p:nvSpPr>
        <p:spPr>
          <a:xfrm>
            <a:off x="4069080" y="1691640"/>
            <a:ext cx="914400" cy="9144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 u="sng" dirty="0"/>
          </a:p>
        </p:txBody>
      </p:sp>
      <p:sp>
        <p:nvSpPr>
          <p:cNvPr id="15" name="Text 11"/>
          <p:cNvSpPr/>
          <p:nvPr/>
        </p:nvSpPr>
        <p:spPr>
          <a:xfrm>
            <a:off x="320040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Hatékonyság igénye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91840" y="3246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Alapvető feltételünk volt a hálózatunkon belüli gyors, akadálytalan kommunikáció. 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1508760"/>
            <a:ext cx="2651760" cy="3108960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Shape 14"/>
          <p:cNvSpPr/>
          <p:nvPr/>
        </p:nvSpPr>
        <p:spPr>
          <a:xfrm>
            <a:off x="6080760" y="1508760"/>
            <a:ext cx="26517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5"/>
          <p:cNvSpPr/>
          <p:nvPr/>
        </p:nvSpPr>
        <p:spPr>
          <a:xfrm>
            <a:off x="6949440" y="1691640"/>
            <a:ext cx="914400" cy="9144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6"/>
          <p:cNvSpPr/>
          <p:nvPr/>
        </p:nvSpPr>
        <p:spPr>
          <a:xfrm>
            <a:off x="608076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Informatikai kihívás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72200" y="3246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Számunkra ez a projekt nem csak egy megoldandó feladat volt, hanem egyfajta valós helyzetre való felkészítés is.</a:t>
            </a:r>
            <a:endParaRPr lang="en-US" sz="1100" dirty="0"/>
          </a:p>
        </p:txBody>
      </p:sp>
      <p:pic>
        <p:nvPicPr>
          <p:cNvPr id="24" name="Ábra 23" descr="Kiszolgáló egyszínű kitöltéssel">
            <a:extLst>
              <a:ext uri="{FF2B5EF4-FFF2-40B4-BE49-F238E27FC236}">
                <a16:creationId xmlns:a16="http://schemas.microsoft.com/office/drawing/2014/main" id="{50C6439D-524A-5A47-85FA-E78B84C671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5834" y="1828800"/>
            <a:ext cx="607423" cy="607423"/>
          </a:xfrm>
          <a:prstGeom prst="rect">
            <a:avLst/>
          </a:prstGeom>
        </p:spPr>
      </p:pic>
      <p:pic>
        <p:nvPicPr>
          <p:cNvPr id="26" name="Ábra 25" descr="Felhőalapú informatika egyszínű kitöltéssel">
            <a:extLst>
              <a:ext uri="{FF2B5EF4-FFF2-40B4-BE49-F238E27FC236}">
                <a16:creationId xmlns:a16="http://schemas.microsoft.com/office/drawing/2014/main" id="{3540BB4F-81A6-88F3-00D8-4FB4BE04A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5474" y="1828800"/>
            <a:ext cx="679714" cy="679714"/>
          </a:xfrm>
          <a:prstGeom prst="rect">
            <a:avLst/>
          </a:prstGeom>
        </p:spPr>
      </p:pic>
      <p:pic>
        <p:nvPicPr>
          <p:cNvPr id="28" name="Ábra 27" descr="Letöltés a felhőből egyszínű kitöltéssel">
            <a:extLst>
              <a:ext uri="{FF2B5EF4-FFF2-40B4-BE49-F238E27FC236}">
                <a16:creationId xmlns:a16="http://schemas.microsoft.com/office/drawing/2014/main" id="{6DAB504F-E1B6-F8BC-619F-5D4B040608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2432" y="1893892"/>
            <a:ext cx="601114" cy="6011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365759"/>
            <a:ext cx="8229600" cy="783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projekt során használt szoftverek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763489"/>
            <a:ext cx="2743200" cy="1554480"/>
          </a:xfrm>
          <a:prstGeom prst="rect">
            <a:avLst/>
          </a:prstGeom>
          <a:solidFill>
            <a:srgbClr val="142237"/>
          </a:solidFill>
          <a:ln w="12700">
            <a:solidFill>
              <a:srgbClr val="E34F2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320040" y="1763489"/>
            <a:ext cx="2743200" cy="64008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457200" y="1900649"/>
            <a:ext cx="822960" cy="822960"/>
          </a:xfrm>
          <a:prstGeom prst="ellipse">
            <a:avLst/>
          </a:prstGeom>
          <a:solidFill>
            <a:srgbClr val="E34F26">
              <a:alpha val="80000"/>
            </a:srgbClr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5"/>
          <p:cNvSpPr/>
          <p:nvPr/>
        </p:nvSpPr>
        <p:spPr>
          <a:xfrm>
            <a:off x="1371600" y="1873217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Cisco </a:t>
            </a:r>
            <a:r>
              <a:rPr lang="hu-HU" sz="13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packet</a:t>
            </a:r>
            <a:r>
              <a:rPr lang="hu-HU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hu-HU" sz="13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723609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hálózat kiépítéséhez.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763489"/>
            <a:ext cx="2743200" cy="1554480"/>
          </a:xfrm>
          <a:prstGeom prst="rect">
            <a:avLst/>
          </a:prstGeom>
          <a:solidFill>
            <a:srgbClr val="142237"/>
          </a:solidFill>
          <a:ln w="12700">
            <a:solidFill>
              <a:srgbClr val="F7DF1E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8"/>
          <p:cNvSpPr/>
          <p:nvPr/>
        </p:nvSpPr>
        <p:spPr>
          <a:xfrm>
            <a:off x="3246120" y="1763489"/>
            <a:ext cx="2743200" cy="6400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Shape 9"/>
          <p:cNvSpPr/>
          <p:nvPr/>
        </p:nvSpPr>
        <p:spPr>
          <a:xfrm>
            <a:off x="3383280" y="1900649"/>
            <a:ext cx="822960" cy="822960"/>
          </a:xfrm>
          <a:prstGeom prst="ellipse">
            <a:avLst/>
          </a:prstGeom>
          <a:solidFill>
            <a:srgbClr val="F7DF1E">
              <a:alpha val="80000"/>
            </a:srgbClr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0"/>
          <p:cNvSpPr/>
          <p:nvPr/>
        </p:nvSpPr>
        <p:spPr>
          <a:xfrm>
            <a:off x="4297680" y="1873217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Virtual</a:t>
            </a:r>
            <a:r>
              <a:rPr lang="hu-HU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hu-HU" sz="13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box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2723609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 szerverek működtetéséhez.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72200" y="1763489"/>
            <a:ext cx="2743200" cy="1554480"/>
          </a:xfrm>
          <a:prstGeom prst="rect">
            <a:avLst/>
          </a:prstGeom>
          <a:solidFill>
            <a:srgbClr val="142237"/>
          </a:solidFill>
          <a:ln w="12700">
            <a:solidFill>
              <a:srgbClr val="777BB4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hape 13"/>
          <p:cNvSpPr/>
          <p:nvPr/>
        </p:nvSpPr>
        <p:spPr>
          <a:xfrm>
            <a:off x="6172200" y="1763489"/>
            <a:ext cx="2743200" cy="64008"/>
          </a:xfrm>
          <a:prstGeom prst="rect">
            <a:avLst/>
          </a:prstGeom>
          <a:solidFill>
            <a:srgbClr val="777BB4"/>
          </a:solidFill>
          <a:ln w="12700">
            <a:solidFill>
              <a:srgbClr val="777BB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4"/>
          <p:cNvSpPr/>
          <p:nvPr/>
        </p:nvSpPr>
        <p:spPr>
          <a:xfrm>
            <a:off x="6309360" y="1900649"/>
            <a:ext cx="822960" cy="822960"/>
          </a:xfrm>
          <a:prstGeom prst="ellipse">
            <a:avLst/>
          </a:prstGeom>
          <a:solidFill>
            <a:srgbClr val="777BB4">
              <a:alpha val="80000"/>
            </a:srgbClr>
          </a:solidFill>
          <a:ln w="12700">
            <a:solidFill>
              <a:srgbClr val="777BB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5"/>
          <p:cNvSpPr/>
          <p:nvPr/>
        </p:nvSpPr>
        <p:spPr>
          <a:xfrm>
            <a:off x="7223760" y="1873217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OBS, Microsoft Word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2723609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videó és a dokumentáció elkészítéséhez.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AFF2D50A-A540-0AE1-2EFD-7A3C83A97752}"/>
              </a:ext>
            </a:extLst>
          </p:cNvPr>
          <p:cNvSpPr/>
          <p:nvPr/>
        </p:nvSpPr>
        <p:spPr>
          <a:xfrm>
            <a:off x="235131" y="5431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A hálózat teljes szerkezete</a:t>
            </a:r>
            <a:endParaRPr lang="en-US" sz="3600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D43F0183-3B15-36E8-668D-4FDA8A9919E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81BB09-446E-6C6A-706D-4A86E480A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90" y="667897"/>
            <a:ext cx="7485705" cy="436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376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Főbb Funkciók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51960" cy="1691640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519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365760" y="1216152"/>
            <a:ext cx="777240" cy="777240"/>
          </a:xfrm>
          <a:prstGeom prst="ellipse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34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Különböző eszközök elérése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82880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1801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12140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2093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Dinamikus PAT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4787540" y="1097280"/>
            <a:ext cx="4251960" cy="1691640"/>
          </a:xfrm>
          <a:prstGeom prst="rect">
            <a:avLst/>
          </a:prstGeom>
          <a:solidFill>
            <a:srgbClr val="142237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6" name="Shape 10"/>
          <p:cNvSpPr/>
          <p:nvPr/>
        </p:nvSpPr>
        <p:spPr>
          <a:xfrm>
            <a:off x="4787540" y="1097280"/>
            <a:ext cx="4251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Shape 11"/>
          <p:cNvSpPr/>
          <p:nvPr/>
        </p:nvSpPr>
        <p:spPr>
          <a:xfrm>
            <a:off x="4878980" y="1216152"/>
            <a:ext cx="777240" cy="77724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700" y="1261872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793380" y="1234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Irányítóprotokollok működése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3380" y="182880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67700" y="1801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Routerek közötti folyékony működés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3380" y="2121408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067700" y="2093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EIGRP, DHCP használata</a:t>
            </a:r>
            <a:endParaRPr lang="en-US" sz="1000" dirty="0"/>
          </a:p>
        </p:txBody>
      </p:sp>
      <p:sp>
        <p:nvSpPr>
          <p:cNvPr id="37" name="Shape 23"/>
          <p:cNvSpPr/>
          <p:nvPr/>
        </p:nvSpPr>
        <p:spPr>
          <a:xfrm>
            <a:off x="2299071" y="3017520"/>
            <a:ext cx="4251960" cy="1691640"/>
          </a:xfrm>
          <a:prstGeom prst="rect">
            <a:avLst/>
          </a:prstGeom>
          <a:solidFill>
            <a:srgbClr val="142237"/>
          </a:solidFill>
          <a:ln w="12700">
            <a:solidFill>
              <a:srgbClr val="EA580C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8" name="Shape 24"/>
          <p:cNvSpPr/>
          <p:nvPr/>
        </p:nvSpPr>
        <p:spPr>
          <a:xfrm>
            <a:off x="2299071" y="3017520"/>
            <a:ext cx="425196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Shape 25"/>
          <p:cNvSpPr/>
          <p:nvPr/>
        </p:nvSpPr>
        <p:spPr>
          <a:xfrm>
            <a:off x="2390511" y="3136392"/>
            <a:ext cx="777240" cy="777240"/>
          </a:xfrm>
          <a:prstGeom prst="ellipse">
            <a:avLst/>
          </a:prstGeom>
          <a:solidFill>
            <a:srgbClr val="EA580C">
              <a:alpha val="80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6231" y="3182112"/>
            <a:ext cx="685800" cy="685800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3304911" y="3154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Biztonság</a:t>
            </a:r>
            <a:endParaRPr lang="en-US" sz="13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4911" y="3749040"/>
            <a:ext cx="201168" cy="201168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3579231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tűzfal</a:t>
            </a:r>
            <a:endParaRPr lang="en-US" sz="1000" dirty="0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4911" y="4041648"/>
            <a:ext cx="201168" cy="201168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3579231" y="4014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Erős jelszavak használata</a:t>
            </a:r>
            <a:endParaRPr lang="en-US" sz="1000" dirty="0"/>
          </a:p>
        </p:txBody>
      </p:sp>
      <p:sp>
        <p:nvSpPr>
          <p:cNvPr id="47" name="Text 29"/>
          <p:cNvSpPr/>
          <p:nvPr/>
        </p:nvSpPr>
        <p:spPr>
          <a:xfrm>
            <a:off x="3579231" y="4306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1699F7-E0B1-37A8-C7FD-AD037A1AA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3DC95F-E299-F428-7B00-94EDC2B44676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CB75538B-A19B-8454-FE26-7C4E1680527C}"/>
              </a:ext>
            </a:extLst>
          </p:cNvPr>
          <p:cNvSpPr/>
          <p:nvPr/>
        </p:nvSpPr>
        <p:spPr>
          <a:xfrm>
            <a:off x="293914" y="70539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Hálózatunk </a:t>
            </a:r>
          </a:p>
          <a:p>
            <a:pPr marL="0" indent="0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programozása</a:t>
            </a:r>
            <a:endParaRPr lang="en-US" sz="3600" dirty="0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F910EC5-E7FD-9CBC-9407-787793CC2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377" y="261650"/>
            <a:ext cx="1783432" cy="4620199"/>
          </a:xfrm>
          <a:prstGeom prst="rect">
            <a:avLst/>
          </a:prstGeom>
        </p:spPr>
      </p:pic>
      <p:pic>
        <p:nvPicPr>
          <p:cNvPr id="6" name="Picture 5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D1F2081E-B93A-4CD2-629D-586D7824F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7148" y="261650"/>
            <a:ext cx="2014590" cy="462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235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72C46-BDDA-F299-A43A-FF4F99AB2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DB7B74-5049-66B0-F848-FB287039B82C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B29A4E9E-ACD1-077E-B143-D17454ACDC6F}"/>
              </a:ext>
            </a:extLst>
          </p:cNvPr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SSH protokoll programozása</a:t>
            </a:r>
            <a:endParaRPr lang="en-US" sz="3600" dirty="0"/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2CBE2C2-501F-955C-7173-7E5D97D37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230" y="1688105"/>
            <a:ext cx="3501756" cy="1767288"/>
          </a:xfrm>
          <a:prstGeom prst="rect">
            <a:avLst/>
          </a:prstGeom>
        </p:spPr>
      </p:pic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711D7B7-92F4-7A43-EC0D-DDD88C831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236" y="1685925"/>
            <a:ext cx="309562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593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DD4C2-014A-9373-7E39-93D4B53D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9CADBB-9CAC-81CF-78EB-F5C1E241AFA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FC6979C5-6D12-AC42-0490-F6FB73D321EF}"/>
              </a:ext>
            </a:extLst>
          </p:cNvPr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EIGRP Programozása</a:t>
            </a:r>
            <a:endParaRPr lang="en-US" sz="3600" dirty="0"/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8447AFF-318B-6474-CE54-41521DC1C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705" y="1485327"/>
            <a:ext cx="3419703" cy="217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751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B4EEF3-B58C-AA16-9119-65387E6BD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8408D4-6E90-7D72-4E30-BCCA6DE5B1B9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8331E422-5320-9346-365A-F7C55771302F}"/>
              </a:ext>
            </a:extLst>
          </p:cNvPr>
          <p:cNvSpPr/>
          <p:nvPr/>
        </p:nvSpPr>
        <p:spPr>
          <a:xfrm>
            <a:off x="457200" y="33963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ASA (biztonsági) tűzfal programozása</a:t>
            </a:r>
            <a:endParaRPr lang="en-US" sz="3600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A05FF56-E1A6-4441-828A-4DF38C285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904" y="1306875"/>
            <a:ext cx="3316191" cy="25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6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23FE81-749B-27EA-4890-6C4123752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C68568-42EC-DDA4-1EC1-72E20CF6F367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E79BD392-D1BD-A16D-B57B-5FD33F4C3A1A}"/>
              </a:ext>
            </a:extLst>
          </p:cNvPr>
          <p:cNvSpPr/>
          <p:nvPr/>
        </p:nvSpPr>
        <p:spPr>
          <a:xfrm>
            <a:off x="339634" y="182880"/>
            <a:ext cx="8569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A projekt alatt eszközölt VLAN-ok</a:t>
            </a:r>
            <a:endParaRPr lang="en-US" sz="3600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AACC8ED-438F-88ED-2D33-B2A88EE13496}"/>
              </a:ext>
            </a:extLst>
          </p:cNvPr>
          <p:cNvSpPr txBox="1"/>
          <p:nvPr/>
        </p:nvSpPr>
        <p:spPr>
          <a:xfrm>
            <a:off x="-62049" y="1180939"/>
            <a:ext cx="45785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VLAN (virtuális helyi hálózat) lehetővé teszi, hogy egy fizikai hálózatot több, egymástól elszigetelt logikai hálózatra osszunk. Így egyetlen infrastruktúrán belül több független, biztonságos virtuális hálózat működhet.</a:t>
            </a:r>
            <a:endParaRPr lang="en-US" sz="1800" i="1" dirty="0"/>
          </a:p>
        </p:txBody>
      </p:sp>
      <p:pic>
        <p:nvPicPr>
          <p:cNvPr id="4" name="Picture 3" descr="A computer network diagram with a few computers connected to each other&#10;&#10;AI-generated content may be incorrect.">
            <a:extLst>
              <a:ext uri="{FF2B5EF4-FFF2-40B4-BE49-F238E27FC236}">
                <a16:creationId xmlns:a16="http://schemas.microsoft.com/office/drawing/2014/main" id="{C6182CB8-F128-7F2D-C689-EC75699B8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727" y="1182535"/>
            <a:ext cx="333375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767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6DC10-1132-A614-41A2-90CEBF994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D2A889-5B0F-A6D8-8015-AB18DF0682EB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DF880A10-937B-B5B3-37A4-FB2415281896}"/>
              </a:ext>
            </a:extLst>
          </p:cNvPr>
          <p:cNvSpPr txBox="1"/>
          <p:nvPr/>
        </p:nvSpPr>
        <p:spPr>
          <a:xfrm>
            <a:off x="1084219" y="385737"/>
            <a:ext cx="700169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hu-HU" sz="3600" b="1" dirty="0">
                <a:solidFill>
                  <a:srgbClr val="FFFFFF"/>
                </a:solidFill>
                <a:latin typeface="Arial Black"/>
              </a:rPr>
              <a:t>Ubuntu Linux - http server</a:t>
            </a:r>
            <a:endParaRPr lang="en-US" sz="3600">
              <a:ea typeface="Calibri"/>
              <a:cs typeface="Calibri"/>
            </a:endParaRPr>
          </a:p>
        </p:txBody>
      </p:sp>
      <p:pic>
        <p:nvPicPr>
          <p:cNvPr id="4" name="Tartalom helye 3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AFB18874-5F34-3D7E-8A49-328344889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786" y="1338676"/>
            <a:ext cx="3364819" cy="349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90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155E2-E705-6DDD-A751-18D667637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0688F8-EA55-F1B7-9F5C-273AE8CFEFD2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E7BF76C0-1F54-9F0F-F0B5-26B24F2BE48B}"/>
              </a:ext>
            </a:extLst>
          </p:cNvPr>
          <p:cNvSpPr/>
          <p:nvPr/>
        </p:nvSpPr>
        <p:spPr>
          <a:xfrm>
            <a:off x="0" y="632018"/>
            <a:ext cx="42780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Windows </a:t>
            </a:r>
          </a:p>
          <a:p>
            <a:pPr marL="0" indent="0" algn="ctr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–</a:t>
            </a:r>
          </a:p>
          <a:p>
            <a:pPr marL="0" indent="0" algn="ctr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hu-HU" sz="3600" b="1" dirty="0" err="1">
                <a:solidFill>
                  <a:srgbClr val="FFFFFF"/>
                </a:solidFill>
                <a:latin typeface="Arial Black" pitchFamily="34" charset="0"/>
              </a:rPr>
              <a:t>Active</a:t>
            </a: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hu-HU" sz="3600" b="1" dirty="0" err="1">
                <a:solidFill>
                  <a:srgbClr val="FFFFFF"/>
                </a:solidFill>
                <a:latin typeface="Arial Black" pitchFamily="34" charset="0"/>
              </a:rPr>
              <a:t>Directory</a:t>
            </a:r>
            <a:endParaRPr lang="en-US" sz="3600" dirty="0"/>
          </a:p>
        </p:txBody>
      </p:sp>
      <p:pic>
        <p:nvPicPr>
          <p:cNvPr id="4" name="Tartalom helye 3" descr="A képen szöveg, képernyőkép,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FF5F27E1-BD7E-ED16-371E-C51DFCA6D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414" y="1972491"/>
            <a:ext cx="4145236" cy="2957717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9AE64548-0B07-1E5E-6686-E9AC2598071B}"/>
              </a:ext>
            </a:extLst>
          </p:cNvPr>
          <p:cNvSpPr txBox="1"/>
          <p:nvPr/>
        </p:nvSpPr>
        <p:spPr>
          <a:xfrm>
            <a:off x="4681401" y="1187470"/>
            <a:ext cx="4607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Windows - DHCP</a:t>
            </a:r>
            <a:endParaRPr lang="en-US" sz="3600" dirty="0"/>
          </a:p>
        </p:txBody>
      </p:sp>
      <p:pic>
        <p:nvPicPr>
          <p:cNvPr id="8" name="Tartalom helye 3" descr="A képen szöveg, képernyőkép, szoftver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BD60D404-C708-B478-7D20-7A5BF3D21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312" y="1972491"/>
            <a:ext cx="4106821" cy="295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31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A569A-EF49-47AE-0158-5E5FEFC0F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B7A2D2-7E0B-23A0-DCD4-E23E77A5B34F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9F3B060D-A7C4-D82F-E185-04C15C987AD6}"/>
              </a:ext>
            </a:extLst>
          </p:cNvPr>
          <p:cNvSpPr/>
          <p:nvPr/>
        </p:nvSpPr>
        <p:spPr>
          <a:xfrm>
            <a:off x="0" y="632018"/>
            <a:ext cx="42780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Windows</a:t>
            </a:r>
          </a:p>
          <a:p>
            <a:pPr algn="ctr"/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 – Group Policy Management</a:t>
            </a:r>
            <a:endParaRPr lang="en-US" sz="3600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BD7799B4-6590-B5EB-93E6-FC1362CAA13A}"/>
              </a:ext>
            </a:extLst>
          </p:cNvPr>
          <p:cNvSpPr txBox="1"/>
          <p:nvPr/>
        </p:nvSpPr>
        <p:spPr>
          <a:xfrm>
            <a:off x="4396773" y="782967"/>
            <a:ext cx="49039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Windows - Backup</a:t>
            </a:r>
            <a:endParaRPr lang="en-US" sz="3600" dirty="0"/>
          </a:p>
        </p:txBody>
      </p:sp>
      <p:pic>
        <p:nvPicPr>
          <p:cNvPr id="3" name="Tartalom helye 3" descr="A képen szöveg, képernyőkép,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D37A74DA-394B-44C8-6882-2C45DA45C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39" y="1926771"/>
            <a:ext cx="4322569" cy="3117237"/>
          </a:xfrm>
          <a:prstGeom prst="rect">
            <a:avLst/>
          </a:prstGeom>
        </p:spPr>
      </p:pic>
      <p:pic>
        <p:nvPicPr>
          <p:cNvPr id="5" name="Tartalom helye 3" descr="A képen szöveg, képernyőkép,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0442E76C-D8CE-B959-2261-42DB52162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546" y="1970383"/>
            <a:ext cx="4451951" cy="296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7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C0136-3C86-F44E-E187-FFD11F18C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CBEF1E-6E68-F3CC-E93F-0FC15348EFD7}"/>
              </a:ext>
            </a:extLst>
          </p:cNvPr>
          <p:cNvSpPr/>
          <p:nvPr/>
        </p:nvSpPr>
        <p:spPr>
          <a:xfrm>
            <a:off x="0" y="39189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9C5B7C-BD7F-0614-B543-0F1C6FD5060F}"/>
              </a:ext>
            </a:extLst>
          </p:cNvPr>
          <p:cNvSpPr/>
          <p:nvPr/>
        </p:nvSpPr>
        <p:spPr>
          <a:xfrm>
            <a:off x="5486400" y="39189"/>
            <a:ext cx="3657600" cy="5143500"/>
          </a:xfrm>
          <a:prstGeom prst="rect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F8E33B-BAC5-A5EF-9F85-6C48487891F0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9CF74C7-E1F8-47A7-8D24-5E250393E133}"/>
              </a:ext>
            </a:extLst>
          </p:cNvPr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2FB6A25-E4AB-031E-37F5-3729D1E85D35}"/>
              </a:ext>
            </a:extLst>
          </p:cNvPr>
          <p:cNvSpPr/>
          <p:nvPr/>
        </p:nvSpPr>
        <p:spPr>
          <a:xfrm>
            <a:off x="457200" y="398417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Össze</a:t>
            </a:r>
            <a:r>
              <a:rPr lang="hu-HU" sz="4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gzés</a:t>
            </a:r>
            <a:endParaRPr lang="hu-HU" sz="40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9A55E57-A3E9-998A-08F7-B7D386647966}"/>
              </a:ext>
            </a:extLst>
          </p:cNvPr>
          <p:cNvSpPr/>
          <p:nvPr/>
        </p:nvSpPr>
        <p:spPr>
          <a:xfrm>
            <a:off x="282663" y="1521773"/>
            <a:ext cx="4282806" cy="1655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Csapatmunka nehézségei, kihívásai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Informatikai – hálózat programozással kapcsolatos problémák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Hálózati témák összeegyeztetése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AF949681-0425-5DCB-D70F-475170B3C319}"/>
              </a:ext>
            </a:extLst>
          </p:cNvPr>
          <p:cNvSpPr txBox="1"/>
          <p:nvPr/>
        </p:nvSpPr>
        <p:spPr>
          <a:xfrm>
            <a:off x="5486400" y="1198607"/>
            <a:ext cx="2716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rgbClr val="FFFFFF"/>
                </a:solidFill>
                <a:latin typeface="Arial Black" pitchFamily="34" charset="0"/>
              </a:rPr>
              <a:t>Tervek a jövőre</a:t>
            </a:r>
            <a:endParaRPr lang="en-US" dirty="0"/>
          </a:p>
          <a:p>
            <a:endParaRPr lang="hu-HU" dirty="0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4F41CC70-DC6B-D62D-6D11-3458939BAFBF}"/>
              </a:ext>
            </a:extLst>
          </p:cNvPr>
          <p:cNvSpPr txBox="1"/>
          <p:nvPr/>
        </p:nvSpPr>
        <p:spPr>
          <a:xfrm>
            <a:off x="158217" y="1263610"/>
            <a:ext cx="2716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rgbClr val="FFFFFF"/>
                </a:solidFill>
                <a:latin typeface="Arial Black" pitchFamily="34" charset="0"/>
              </a:rPr>
              <a:t>Tapasztalataink</a:t>
            </a:r>
            <a:endParaRPr lang="en-US" dirty="0"/>
          </a:p>
          <a:p>
            <a:endParaRPr lang="hu-HU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7DD0C566-F441-CB22-064E-106709BA0555}"/>
              </a:ext>
            </a:extLst>
          </p:cNvPr>
          <p:cNvSpPr/>
          <p:nvPr/>
        </p:nvSpPr>
        <p:spPr>
          <a:xfrm>
            <a:off x="5562200" y="1404256"/>
            <a:ext cx="4282806" cy="1655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A hálózat megvalósítása a gyakorlatban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chemeClr val="bg1"/>
                </a:solidFill>
              </a:rPr>
              <a:t>Új funkciók hozzáadása</a:t>
            </a:r>
          </a:p>
          <a:p>
            <a:pPr>
              <a:spcBef>
                <a:spcPts val="600"/>
              </a:spcBef>
            </a:pPr>
            <a:endParaRPr lang="hu-HU" sz="1400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spcBef>
                <a:spcPts val="600"/>
              </a:spcBef>
            </a:pPr>
            <a:endParaRPr lang="hu-H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054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Összefoglalás</a:t>
            </a:r>
            <a:endParaRPr lang="en-US" sz="4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801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252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Mindennapok kihívásaira felkészített hálózat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4708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196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Dinamikus címkiosztás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14016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38658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Hálózat – Szerverek teljeskörű tervezése és megvalósítása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80944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295351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Szakmai követelmények betartása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60A5FA">
                <a:alpha val="7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Text 11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Köszönjük</a:t>
            </a:r>
            <a:r>
              <a:rPr lang="en-US" sz="1600" b="1" dirty="0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a </a:t>
            </a:r>
            <a:r>
              <a:rPr lang="en-US" sz="1600" b="1" dirty="0" err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figyelmet</a:t>
            </a:r>
            <a:r>
              <a:rPr lang="en-US" sz="1600" b="1" dirty="0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!  </a:t>
            </a:r>
            <a:r>
              <a:rPr lang="hu-HU" sz="1600" b="1" dirty="0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Készítette: Szalai Bálint, Lakatos Richárd, Tóth László Bendegúz</a:t>
            </a:r>
            <a:endParaRPr lang="hu-HU" sz="1600" b="1" dirty="0">
              <a:solidFill>
                <a:srgbClr val="FFFFFF"/>
              </a:solidFill>
              <a:latin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352</Words>
  <Application>Microsoft Office PowerPoint</Application>
  <PresentationFormat>On-screen Show (16:9)</PresentationFormat>
  <Paragraphs>84</Paragraphs>
  <Slides>15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ProParking – Okos Parkolórendszer</dc:title>
  <dc:subject>PptxGenJS Presentation</dc:subject>
  <dc:creator>PptxGenJS</dc:creator>
  <cp:lastModifiedBy>O365 felhasználó</cp:lastModifiedBy>
  <cp:revision>188</cp:revision>
  <dcterms:created xsi:type="dcterms:W3CDTF">2026-05-12T11:45:19Z</dcterms:created>
  <dcterms:modified xsi:type="dcterms:W3CDTF">2026-05-27T10:09:51Z</dcterms:modified>
</cp:coreProperties>
</file>